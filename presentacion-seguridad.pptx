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2139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0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3840480" cy="3840480"/>
          </a:xfrm>
          <a:prstGeom prst="ellipse">
            <a:avLst/>
          </a:prstGeom>
          <a:solidFill>
            <a:srgbClr val="A100FF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38193A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547208" y="640080"/>
            <a:ext cx="1097280" cy="1097280"/>
          </a:xfrm>
          <a:prstGeom prst="roundRect">
            <a:avLst>
              <a:gd name="adj" fmla="val 18333"/>
            </a:avLst>
          </a:prstGeom>
          <a:solidFill>
            <a:srgbClr val="A100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547208" y="640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🛡️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1874520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Seguridad de Base de Datos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2606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0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SouthPark · Reservación de espacios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69768" y="30632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Análisis de datos sensibles, amenazas y medidas de protección sobre React + Supabase (PostgreSQL).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52648" y="3657600"/>
            <a:ext cx="1554480" cy="292608"/>
          </a:xfrm>
          <a:prstGeom prst="rect">
            <a:avLst/>
          </a:prstGeom>
          <a:solidFill>
            <a:srgbClr val="C850FF">
              <a:alpha val="14000"/>
            </a:srgbClr>
          </a:solidFill>
          <a:ln w="9525">
            <a:solidFill>
              <a:srgbClr val="C850FF">
                <a:alpha val="4500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5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90008" y="3657600"/>
            <a:ext cx="1828800" cy="292608"/>
          </a:xfrm>
          <a:prstGeom prst="rect">
            <a:avLst/>
          </a:prstGeom>
          <a:solidFill>
            <a:srgbClr val="4ADE80">
              <a:alpha val="14000"/>
            </a:srgbClr>
          </a:solidFill>
          <a:ln w="9525">
            <a:solidFill>
              <a:srgbClr val="4ADE80">
                <a:alpha val="4500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Supabase Auth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01688" y="3657600"/>
            <a:ext cx="1920240" cy="292608"/>
          </a:xfrm>
          <a:prstGeom prst="rect">
            <a:avLst/>
          </a:prstGeom>
          <a:solidFill>
            <a:srgbClr val="60A5FA">
              <a:alpha val="14000"/>
            </a:srgbClr>
          </a:solidFill>
          <a:ln w="9525">
            <a:solidFill>
              <a:srgbClr val="60A5FA">
                <a:alpha val="4500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PostgreSQL + RLS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41605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C850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EQUIPO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5208" y="4526280"/>
            <a:ext cx="2057400" cy="685800"/>
          </a:xfrm>
          <a:prstGeom prst="roundRect">
            <a:avLst>
              <a:gd name="adj" fmla="val 13333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975208" y="45262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Emiliano Altamirano Baez
</a:t>
            </a:r>
            <a:r>
              <a:rPr lang="en-US" sz="950" dirty="0">
                <a:solidFill>
                  <a:srgbClr val="C85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A00838577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78328" y="4526280"/>
            <a:ext cx="2057400" cy="685800"/>
          </a:xfrm>
          <a:prstGeom prst="roundRect">
            <a:avLst>
              <a:gd name="adj" fmla="val 13333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078328" y="45262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Lucas Mateo Tapia Callisperis
</a:t>
            </a:r>
            <a:r>
              <a:rPr lang="en-US" sz="950" dirty="0">
                <a:solidFill>
                  <a:srgbClr val="C85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A00840248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81448" y="4526280"/>
            <a:ext cx="2057400" cy="685800"/>
          </a:xfrm>
          <a:prstGeom prst="roundRect">
            <a:avLst>
              <a:gd name="adj" fmla="val 13333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181448" y="45262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Rafael Cárdenas Meneses
</a:t>
            </a:r>
            <a:r>
              <a:rPr lang="en-US" sz="950" dirty="0">
                <a:solidFill>
                  <a:srgbClr val="C85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A00838348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84568" y="4526280"/>
            <a:ext cx="2057400" cy="685800"/>
          </a:xfrm>
          <a:prstGeom prst="roundRect">
            <a:avLst>
              <a:gd name="adj" fmla="val 13333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284568" y="45262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Emiliano Enríquez López
</a:t>
            </a:r>
            <a:r>
              <a:rPr lang="en-US" sz="950" dirty="0">
                <a:solidFill>
                  <a:srgbClr val="C85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A01174554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87688" y="4526280"/>
            <a:ext cx="2057400" cy="685800"/>
          </a:xfrm>
          <a:prstGeom prst="roundRect">
            <a:avLst>
              <a:gd name="adj" fmla="val 13333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9387688" y="45262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Sergio Rodríguez Pérez
</a:t>
            </a:r>
            <a:r>
              <a:rPr lang="en-US" sz="950" dirty="0">
                <a:solidFill>
                  <a:srgbClr val="C85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A00838856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0" y="55778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A6B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M5 — BD: Seguridad   · 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0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3840480" cy="3840480"/>
          </a:xfrm>
          <a:prstGeom prst="ellipse">
            <a:avLst/>
          </a:prstGeom>
          <a:solidFill>
            <a:srgbClr val="A100FF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38193A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280160" cy="365760"/>
          </a:xfrm>
          <a:prstGeom prst="rect">
            <a:avLst/>
          </a:prstGeom>
          <a:solidFill>
            <a:srgbClr val="F6AF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819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411480"/>
            <a:ext cx="9494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IDENTIFICACIÓN DE DATOS SENSIBLES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D6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¿Qué datos guarda la base de datos?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454298" cy="2743200"/>
          </a:xfrm>
          <a:prstGeom prst="roundRect">
            <a:avLst>
              <a:gd name="adj" fmla="val 3333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64008" cy="2743200"/>
          </a:xfrm>
          <a:prstGeom prst="roundRect">
            <a:avLst>
              <a:gd name="adj" fmla="val 42857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96112" y="1947672"/>
            <a:ext cx="29970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🔴 ALTA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233172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Alta sensibilidad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2788920"/>
            <a:ext cx="299709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Contraseñas (hash bcrypt)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Número de empleado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Correo corporativo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Nombre completo (PII)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8698" y="1783080"/>
            <a:ext cx="3454298" cy="2743200"/>
          </a:xfrm>
          <a:prstGeom prst="roundRect">
            <a:avLst>
              <a:gd name="adj" fmla="val 3333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4368698" y="1783080"/>
            <a:ext cx="64008" cy="2743200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624730" y="1947672"/>
            <a:ext cx="29970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🟡 MEDIA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4730" y="233172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Media sensibilidad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24730" y="2788920"/>
            <a:ext cx="299709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Historial de reservas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Gamificación / puntos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Logs de conflicto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Bloqueos temporales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7317" y="1783080"/>
            <a:ext cx="3454298" cy="2743200"/>
          </a:xfrm>
          <a:prstGeom prst="roundRect">
            <a:avLst>
              <a:gd name="adj" fmla="val 3333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8097317" y="1783080"/>
            <a:ext cx="64008" cy="274320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353349" y="1947672"/>
            <a:ext cx="29970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🟢 BAJA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53349" y="233172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Baja sensibilidad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53349" y="2788920"/>
            <a:ext cx="299709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Catálogo de espacios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Zonas y planos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Estados y beneficios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640080" y="4709160"/>
            <a:ext cx="64008" cy="1234440"/>
          </a:xfrm>
          <a:prstGeom prst="roundRect">
            <a:avLst>
              <a:gd name="adj" fmla="val 42857"/>
            </a:avLst>
          </a:prstGeom>
          <a:solidFill>
            <a:srgbClr val="C850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896112" y="4818888"/>
            <a:ext cx="10454335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850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Impacto de una fuga: </a:t>
            </a:r>
            <a:r>
              <a:rPr lang="en-US" sz="13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PII de empleados reales de Accenture → phishing dirigido e ingeniería social. El historial revela patrones de presencia física (quién, dónde y a qué hora) → riesgo de privacidad y seguridad.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0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3840480" cy="3840480"/>
          </a:xfrm>
          <a:prstGeom prst="ellipse">
            <a:avLst/>
          </a:prstGeom>
          <a:solidFill>
            <a:srgbClr val="A100FF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38193A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280160" cy="365760"/>
          </a:xfrm>
          <a:prstGeom prst="rect">
            <a:avLst/>
          </a:prstGeom>
          <a:solidFill>
            <a:srgbClr val="F6AF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819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411480"/>
            <a:ext cx="9494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NIVELES DE ACCESO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D6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¿Quién accede y con qué nivel?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64008" cy="841248"/>
          </a:xfrm>
          <a:prstGeom prst="roundRect">
            <a:avLst>
              <a:gd name="adj" fmla="val 42857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👑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08760" y="19110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240280"/>
            <a:ext cx="1554480" cy="292608"/>
          </a:xfrm>
          <a:prstGeom prst="rect">
            <a:avLst/>
          </a:prstGeom>
          <a:solidFill>
            <a:srgbClr val="F87171">
              <a:alpha val="14000"/>
            </a:srgbClr>
          </a:solidFill>
          <a:ln w="9525">
            <a:solidFill>
              <a:srgbClr val="F87171">
                <a:alpha val="4500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id_rol =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783080"/>
            <a:ext cx="743681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Lectura/escritura de todas las tablas vía es_admin()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752344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640080" y="2752344"/>
            <a:ext cx="64008" cy="841248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22960" y="2752344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0876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Empleado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209544"/>
            <a:ext cx="1554480" cy="292608"/>
          </a:xfrm>
          <a:prstGeom prst="rect">
            <a:avLst/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4500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id_rol =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2752344"/>
            <a:ext cx="743681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Solo sus propios datos: id_usuario = auth.uid(). Lee catálogos.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721608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640080" y="3721608"/>
            <a:ext cx="64008" cy="841248"/>
          </a:xfrm>
          <a:prstGeom prst="roundRect">
            <a:avLst>
              <a:gd name="adj" fmla="val 42857"/>
            </a:avLst>
          </a:prstGeom>
          <a:solidFill>
            <a:srgbClr val="60A5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822960" y="3721608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🚪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08760" y="384962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Anónimo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4178808"/>
            <a:ext cx="1554480" cy="292608"/>
          </a:xfrm>
          <a:prstGeom prst="rect">
            <a:avLst/>
          </a:prstGeom>
          <a:solidFill>
            <a:srgbClr val="60A5FA">
              <a:alpha val="14000"/>
            </a:srgbClr>
          </a:solidFill>
          <a:ln w="9525">
            <a:solidFill>
              <a:srgbClr val="60A5FA">
                <a:alpha val="4500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sin sesión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3721608"/>
            <a:ext cx="743681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Sin acceso a datos de negocio. Solo registro / login.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690872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40080" y="4690872"/>
            <a:ext cx="64008" cy="841248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822960" y="4690872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508760" y="48188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service_role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5148072"/>
            <a:ext cx="1554480" cy="292608"/>
          </a:xfrm>
          <a:prstGeom prst="rect">
            <a:avLst/>
          </a:prstGeom>
          <a:solidFill>
            <a:srgbClr val="4ADE80">
              <a:alpha val="14000"/>
            </a:srgbClr>
          </a:solidFill>
          <a:ln w="9525">
            <a:solidFill>
              <a:srgbClr val="4ADE80">
                <a:alpha val="4500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0" y="4690872"/>
            <a:ext cx="743681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Acceso total — NUNCA debe exponerse en el frontend.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50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🔑 Principio de mínimo privilegio: cada quien ve solo lo que necesita.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0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3840480" cy="3840480"/>
          </a:xfrm>
          <a:prstGeom prst="ellipse">
            <a:avLst/>
          </a:prstGeom>
          <a:solidFill>
            <a:srgbClr val="A100FF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38193A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280160" cy="365760"/>
          </a:xfrm>
          <a:prstGeom prst="rect">
            <a:avLst/>
          </a:prstGeom>
          <a:solidFill>
            <a:srgbClr val="F6AF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819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411480"/>
            <a:ext cx="9494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IDENTIFICACIÓN DE AMENAZAS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D6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Amenazas evaluadas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72888" cy="1234440"/>
          </a:xfrm>
          <a:prstGeom prst="roundRect">
            <a:avLst>
              <a:gd name="adj" fmla="val 7407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64008" cy="123444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96112" y="1911096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💉  </a:t>
            </a:r>
            <a:r>
              <a:rPr lang="en-US" sz="15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Inyección SQL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2331720"/>
            <a:ext cx="4815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Mitigada — PostgREST parametriza; RPCs con parámetros tipados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8728" y="1783080"/>
            <a:ext cx="5272888" cy="1234440"/>
          </a:xfrm>
          <a:prstGeom prst="roundRect">
            <a:avLst>
              <a:gd name="adj" fmla="val 7407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278728" y="1783080"/>
            <a:ext cx="64008" cy="1234440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534760" y="1911096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🔓  </a:t>
            </a:r>
            <a:r>
              <a:rPr lang="en-US" sz="15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Acceso no autorizado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4760" y="2331720"/>
            <a:ext cx="4815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Mitigada con Row Level Security (1 hallazgo abierto)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5272888" cy="1234440"/>
          </a:xfrm>
          <a:prstGeom prst="roundRect">
            <a:avLst>
              <a:gd name="adj" fmla="val 7407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64008" cy="1234440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96112" y="3328416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🔑  </a:t>
            </a:r>
            <a:r>
              <a:rPr lang="en-US" sz="15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Robo de credenciales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12" y="3749040"/>
            <a:ext cx="4815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Parcial — hashing sí; falta MFA y rate-limit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8728" y="3200400"/>
            <a:ext cx="5272888" cy="1234440"/>
          </a:xfrm>
          <a:prstGeom prst="roundRect">
            <a:avLst>
              <a:gd name="adj" fmla="val 7407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6278728" y="3200400"/>
            <a:ext cx="64008" cy="1234440"/>
          </a:xfrm>
          <a:prstGeom prst="roundRect">
            <a:avLst>
              <a:gd name="adj" fmla="val 42857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534760" y="3328416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📤  </a:t>
            </a:r>
            <a:r>
              <a:rPr lang="en-US" sz="15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Secretos en el cliente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4760" y="3749040"/>
            <a:ext cx="4815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ABIERTO — API key de OpenAI en el bundle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5272888" cy="1234440"/>
          </a:xfrm>
          <a:prstGeom prst="roundRect">
            <a:avLst>
              <a:gd name="adj" fmla="val 7407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64008" cy="123444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896112" y="4745736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🪜  </a:t>
            </a:r>
            <a:r>
              <a:rPr lang="en-US" sz="15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Escalada de privilegios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6112" y="5166360"/>
            <a:ext cx="4815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Mitigada — el rol lo fija el backend, no el cliente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78728" y="4617720"/>
            <a:ext cx="5272888" cy="1234440"/>
          </a:xfrm>
          <a:prstGeom prst="roundRect">
            <a:avLst>
              <a:gd name="adj" fmla="val 7407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6278728" y="4617720"/>
            <a:ext cx="64008" cy="123444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534760" y="4745736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💾  </a:t>
            </a:r>
            <a:r>
              <a:rPr lang="en-US" sz="15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Pérdida de datos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34760" y="5166360"/>
            <a:ext cx="4815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Mitigada — backups automáticos de Supabase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0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3840480" cy="3840480"/>
          </a:xfrm>
          <a:prstGeom prst="ellipse">
            <a:avLst/>
          </a:prstGeom>
          <a:solidFill>
            <a:srgbClr val="A100FF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38193A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280160" cy="365760"/>
          </a:xfrm>
          <a:prstGeom prst="rect">
            <a:avLst/>
          </a:prstGeom>
          <a:solidFill>
            <a:srgbClr val="F6AF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819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411480"/>
            <a:ext cx="9494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PUNTOS VULNERABLES DEL SISTEMA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D6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Diagrama de superficie de ataque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920240" y="1828800"/>
            <a:ext cx="8351215" cy="1188720"/>
          </a:xfrm>
          <a:prstGeom prst="roundRect">
            <a:avLst>
              <a:gd name="adj" fmla="val 7692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920240" y="1828800"/>
            <a:ext cx="64008" cy="1188720"/>
          </a:xfrm>
          <a:prstGeom prst="roundRect">
            <a:avLst>
              <a:gd name="adj" fmla="val 42857"/>
            </a:avLst>
          </a:prstGeom>
          <a:solidFill>
            <a:srgbClr val="60A5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194560" y="1965960"/>
            <a:ext cx="5425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🌐  Navegador (React + Vite bundle)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28255" y="1975104"/>
            <a:ext cx="2468880" cy="292608"/>
          </a:xfrm>
          <a:prstGeom prst="rect">
            <a:avLst/>
          </a:prstGeom>
          <a:solidFill>
            <a:srgbClr val="F87171">
              <a:alpha val="14000"/>
            </a:srgbClr>
          </a:solidFill>
          <a:ln w="9525">
            <a:solidFill>
              <a:srgbClr val="F87171">
                <a:alpha val="4500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🔴 OpenAI key expuesta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395728"/>
            <a:ext cx="78025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A6B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VITE_OPENAI_API_KEY → queda en el JS · VITE_SUPABASE_ANON_KEY (pública, OK)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0" y="31089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50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↓ HTTPS / TLS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20240" y="3566160"/>
            <a:ext cx="8351215" cy="2651760"/>
          </a:xfrm>
          <a:prstGeom prst="roundRect">
            <a:avLst>
              <a:gd name="adj" fmla="val 3448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1920240" y="3566160"/>
            <a:ext cx="64008" cy="265176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2194560" y="3703320"/>
            <a:ext cx="7802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🗄️  Supabase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94560" y="4160520"/>
            <a:ext cx="3764128" cy="640080"/>
          </a:xfrm>
          <a:prstGeom prst="rect">
            <a:avLst/>
          </a:prstGeom>
          <a:solidFill>
            <a:srgbClr val="120615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8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 · bcrypt hash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8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trigger handle_new_user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33008" y="4160520"/>
            <a:ext cx="3764128" cy="640080"/>
          </a:xfrm>
          <a:prstGeom prst="rect">
            <a:avLst/>
          </a:prstGeom>
          <a:solidFill>
            <a:srgbClr val="120615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8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8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queries parametrizadas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94560" y="4937760"/>
            <a:ext cx="7802575" cy="640080"/>
          </a:xfrm>
          <a:prstGeom prst="rect">
            <a:avLst/>
          </a:prstGeom>
          <a:solidFill>
            <a:srgbClr val="16331E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8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PostgreSQL + RLS · policies own_or_admin · es_admin() · RPCs SECURITY DEFINER · Backups ✅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0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3840480" cy="3840480"/>
          </a:xfrm>
          <a:prstGeom prst="ellipse">
            <a:avLst/>
          </a:prstGeom>
          <a:solidFill>
            <a:srgbClr val="A100FF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38193A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280160" cy="365760"/>
          </a:xfrm>
          <a:prstGeom prst="rect">
            <a:avLst/>
          </a:prstGeom>
          <a:solidFill>
            <a:srgbClr val="F6AF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819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411480"/>
            <a:ext cx="9494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MEDIDAS IMPLEMENTADAS (1 DE 2)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D6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Autenticación, acceso y anti-inyección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11535" cy="2011680"/>
          </a:xfrm>
          <a:prstGeom prst="roundRect">
            <a:avLst>
              <a:gd name="adj" fmla="val 4545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64008" cy="201168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① Autenticación + control de acceso por rol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103628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Supabase Auth (signInWithPassword / signUp).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Validación de dominio en doble capa: frontend + trigger handle_new_user.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RLS activado en todas las tablas; policies id_usuario = auth.uid() or es_admin().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Anti-escalada: id_rol lo asigna el servidor, no el cliente.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10911535" cy="2011680"/>
          </a:xfrm>
          <a:prstGeom prst="roundRect">
            <a:avLst>
              <a:gd name="adj" fmla="val 4545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64008" cy="2011680"/>
          </a:xfrm>
          <a:prstGeom prst="roundRect">
            <a:avLst>
              <a:gd name="adj" fmla="val 42857"/>
            </a:avLst>
          </a:prstGeom>
          <a:solidFill>
            <a:srgbClr val="60A5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② Validación de entradas / prevención de SQLi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526280"/>
            <a:ext cx="103628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Sin SQL concatenado: el SDK envía parámetros tipados.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Escritura de Reserva solo vía RPC crear_reserva / cancelar_reserva (procedimiento almacenado).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Validaciones server-side: autenticación, hora_inicio &lt; hora_fin, cupo y traslape.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0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3840480" cy="3840480"/>
          </a:xfrm>
          <a:prstGeom prst="ellipse">
            <a:avLst/>
          </a:prstGeom>
          <a:solidFill>
            <a:srgbClr val="A100FF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38193A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280160" cy="365760"/>
          </a:xfrm>
          <a:prstGeom prst="rect">
            <a:avLst/>
          </a:prstGeom>
          <a:solidFill>
            <a:srgbClr val="F6AF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819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411480"/>
            <a:ext cx="9494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MEDIDAS IMPLEMENTADAS (2 DE 2)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D6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Cifrado, respaldo y monitoreo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72888" cy="1920240"/>
          </a:xfrm>
          <a:prstGeom prst="roundRect">
            <a:avLst>
              <a:gd name="adj" fmla="val 4762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64008" cy="1920240"/>
          </a:xfrm>
          <a:prstGeom prst="roundRect">
            <a:avLst>
              <a:gd name="adj" fmla="val 42857"/>
            </a:avLst>
          </a:prstGeom>
          <a:solidFill>
            <a:srgbClr val="C850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③ Cifrado de datos 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47242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Contraseñas con bcrypt (nunca en texto plano).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 tránsito: HTTPS / TLS.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 reposo: discos cifrados AES-256.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78728" y="1783080"/>
            <a:ext cx="5272888" cy="1920240"/>
          </a:xfrm>
          <a:prstGeom prst="roundRect">
            <a:avLst>
              <a:gd name="adj" fmla="val 4762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278728" y="1783080"/>
            <a:ext cx="64008" cy="192024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553048" y="192024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④ Backup y recuperación 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3048" y="2331720"/>
            <a:ext cx="47242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Backups automáticos diarios de Supabase.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Esquema versionado en db/ (scripts 01–09).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Reconstrucción total ejecutando los scripts en orden.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10911535" cy="2103120"/>
          </a:xfrm>
          <a:prstGeom prst="roundRect">
            <a:avLst>
              <a:gd name="adj" fmla="val 4348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64008" cy="2103120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⑤ Monitoreo y auditoría 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103628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LogConflictoReserva: registra cada intento de reserva fallido (quién, espacio, motivo).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BloqueoReserva + pg_cron: evitan condiciones de carrera y dobles reservas.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Supabase Logs: accesos a la API y errores de autenticación.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0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3840480" cy="3840480"/>
          </a:xfrm>
          <a:prstGeom prst="ellipse">
            <a:avLst/>
          </a:prstGeom>
          <a:solidFill>
            <a:srgbClr val="A100FF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38193A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280160" cy="365760"/>
          </a:xfrm>
          <a:prstGeom prst="rect">
            <a:avLst/>
          </a:prstGeom>
          <a:solidFill>
            <a:srgbClr val="F6AF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819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411480"/>
            <a:ext cx="9494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PRUEBAS DE SEGURIDAD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D6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Resultados de las pruebas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64008" cy="45720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04672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737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Inyección SQL en login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212080" y="1737360"/>
            <a:ext cx="6156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Tratada como literal, rechazada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304288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640080" y="2304288"/>
            <a:ext cx="64008" cy="45720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04672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3042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Leer Usuario de otro (RLS)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12080" y="2304288"/>
            <a:ext cx="6156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Devuelve vacío — filtra por auth.uid()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871216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40080" y="2871216"/>
            <a:ext cx="64008" cy="45720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04672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28712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Insert directo a Reserva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12080" y="2871216"/>
            <a:ext cx="6156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Bloqueado — solo vía RPC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438144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640080" y="3438144"/>
            <a:ext cx="64008" cy="45720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804672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343814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Cancelar reserva ajena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212080" y="3438144"/>
            <a:ext cx="6156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Excepción 'No autorizado' (42501)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05072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640080" y="4005072"/>
            <a:ext cx="64008" cy="457200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804672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⚠️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80160" y="40050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Escalada de id_rol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212080" y="4005072"/>
            <a:ext cx="6156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Endurecer con trigger de inmutabilidad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457200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640080" y="4572000"/>
            <a:ext cx="64008" cy="45720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804672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80160" y="4572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Recuperación desde backup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212080" y="4572000"/>
            <a:ext cx="6156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Restaura por backup o scripts db/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0080" y="5138928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640080" y="5138928"/>
            <a:ext cx="64008" cy="457200"/>
          </a:xfrm>
          <a:prstGeom prst="roundRect">
            <a:avLst>
              <a:gd name="adj" fmla="val 42857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804672" y="5138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❌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280160" y="51389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Extraer secretos del bundle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212080" y="5138928"/>
            <a:ext cx="6156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 encuentra la API key de OpenAI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DE8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 de 7 amenazas mitigadas · 1 hallazgo crítico por corregir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0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3840480" cy="3840480"/>
          </a:xfrm>
          <a:prstGeom prst="ellipse">
            <a:avLst/>
          </a:prstGeom>
          <a:solidFill>
            <a:srgbClr val="A100FF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38193A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280160" cy="365760"/>
          </a:xfrm>
          <a:prstGeom prst="rect">
            <a:avLst/>
          </a:prstGeom>
          <a:solidFill>
            <a:srgbClr val="F6AF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819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411480"/>
            <a:ext cx="9494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HALLAZGOS ABIERTOS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D6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Áreas que necesitan mejora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911535" cy="1737360"/>
          </a:xfrm>
          <a:prstGeom prst="roundRect">
            <a:avLst>
              <a:gd name="adj" fmla="val 5263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64008" cy="1737360"/>
          </a:xfrm>
          <a:prstGeom prst="roundRect">
            <a:avLst>
              <a:gd name="adj" fmla="val 42857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🔴 ALTA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993392"/>
            <a:ext cx="8899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API key de OpenAI expuesta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recommendations.js usa VITE_OPENAI_API_KEY en el cliente → se incrusta en el bundle público. </a:t>
            </a:r>
            <a:r>
              <a:rPr lang="en-US" sz="1350" b="1" dirty="0">
                <a:solidFill>
                  <a:srgbClr val="F6AFF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Solución: </a:t>
            </a: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mover la llamada a un Edge Function / backend.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0911535" cy="1737360"/>
          </a:xfrm>
          <a:prstGeom prst="roundRect">
            <a:avLst>
              <a:gd name="adj" fmla="val 5263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64008" cy="1737360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🟡 MEDIA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3913632"/>
            <a:ext cx="8899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Reserva legible por todos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3891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fix_rls_reserva.sql abrió la tabla con USING (true) para pintar el mapa → expone PII ajena. </a:t>
            </a:r>
            <a:r>
              <a:rPr lang="en-US" sz="1350" b="1" dirty="0">
                <a:solidFill>
                  <a:srgbClr val="F6AFF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Solución: </a:t>
            </a:r>
            <a:r>
              <a:rPr lang="en-US" sz="135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una vista agregada sin PII + restaurar own_or_admin.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0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3840480" cy="3840480"/>
          </a:xfrm>
          <a:prstGeom prst="ellipse">
            <a:avLst/>
          </a:prstGeom>
          <a:solidFill>
            <a:srgbClr val="A100FF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38193A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280160" cy="365760"/>
          </a:xfrm>
          <a:prstGeom prst="rect">
            <a:avLst/>
          </a:prstGeom>
          <a:solidFill>
            <a:srgbClr val="F6AF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819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411480"/>
            <a:ext cx="9494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DOCUMENTACIÓN · APRENDIZAJES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D6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 que aprendimos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911535" cy="1188720"/>
          </a:xfrm>
          <a:prstGeom prst="roundRect">
            <a:avLst>
              <a:gd name="adj" fmla="val 7692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64008" cy="1188720"/>
          </a:xfrm>
          <a:prstGeom prst="roundRect">
            <a:avLst>
              <a:gd name="adj" fmla="val 42857"/>
            </a:avLst>
          </a:prstGeom>
          <a:solidFill>
            <a:srgbClr val="C850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37360" y="2148840"/>
            <a:ext cx="953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seguridad vive en el 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2514600"/>
            <a:ext cx="95399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RLS + RPCs en el servidor; nunca confiar en validaciones del cliente.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10911535" cy="1188720"/>
          </a:xfrm>
          <a:prstGeom prst="roundRect">
            <a:avLst>
              <a:gd name="adj" fmla="val 7692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64008" cy="1188720"/>
          </a:xfrm>
          <a:prstGeom prst="roundRect">
            <a:avLst>
              <a:gd name="adj" fmla="val 42857"/>
            </a:avLst>
          </a:prstGeom>
          <a:solidFill>
            <a:srgbClr val="C850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68680" y="329184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📤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737360" y="3520440"/>
            <a:ext cx="953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Toda variable VITE_* es pública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3886200"/>
            <a:ext cx="95399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Los secretos van en un servidor o Edge Function, jamás en el bundle.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10911535" cy="1188720"/>
          </a:xfrm>
          <a:prstGeom prst="roundRect">
            <a:avLst>
              <a:gd name="adj" fmla="val 7692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64008" cy="1188720"/>
          </a:xfrm>
          <a:prstGeom prst="roundRect">
            <a:avLst>
              <a:gd name="adj" fmla="val 42857"/>
            </a:avLst>
          </a:prstGeom>
          <a:solidFill>
            <a:srgbClr val="C850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68680" y="466344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737360" y="4892040"/>
            <a:ext cx="953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Mínimo privilegio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37360" y="5257800"/>
            <a:ext cx="95399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Abrir una policy a USING(true) por conveniencia introduce fugas de PII.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0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3840480" cy="3840480"/>
          </a:xfrm>
          <a:prstGeom prst="ellipse">
            <a:avLst/>
          </a:prstGeom>
          <a:solidFill>
            <a:srgbClr val="A100FF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38193A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280160" cy="365760"/>
          </a:xfrm>
          <a:prstGeom prst="rect">
            <a:avLst/>
          </a:prstGeom>
          <a:solidFill>
            <a:srgbClr val="F6AF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819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411480"/>
            <a:ext cx="9494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PRESENTACIÓN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D6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 que presentamos al grupo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72888" cy="1965960"/>
          </a:xfrm>
          <a:prstGeom prst="roundRect">
            <a:avLst>
              <a:gd name="adj" fmla="val 4651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64008" cy="1965960"/>
          </a:xfrm>
          <a:prstGeom prst="roundRect">
            <a:avLst>
              <a:gd name="adj" fmla="val 42857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96112" y="18928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1929384"/>
            <a:ext cx="426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1. Riesgos identificados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2377440"/>
            <a:ext cx="48156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Inyección SQL y acceso no autorizado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Robo de credenciales / escalada de rol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Secretos expuestos en el cliente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Pérdida de datos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8728" y="1783080"/>
            <a:ext cx="5272888" cy="1965960"/>
          </a:xfrm>
          <a:prstGeom prst="roundRect">
            <a:avLst>
              <a:gd name="adj" fmla="val 4651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6278728" y="1783080"/>
            <a:ext cx="64008" cy="1965960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534760" y="18928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55968" y="1929384"/>
            <a:ext cx="426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 Medidas implementadas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4760" y="2377440"/>
            <a:ext cx="48156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Auth + RLS por rol (own_or_admin)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RPCs con validación server-side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Cifrado bcrypt + TLS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Backups + auditoría de conflictos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5272888" cy="1965960"/>
          </a:xfrm>
          <a:prstGeom prst="roundRect">
            <a:avLst>
              <a:gd name="adj" fmla="val 4651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64008" cy="1965960"/>
          </a:xfrm>
          <a:prstGeom prst="roundRect">
            <a:avLst>
              <a:gd name="adj" fmla="val 42857"/>
            </a:avLst>
          </a:prstGeom>
          <a:solidFill>
            <a:srgbClr val="60A5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96112" y="40873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17320" y="4123944"/>
            <a:ext cx="426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 Resultados y mejoras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" y="4572000"/>
            <a:ext cx="48156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 de 7 amenazas mitigadas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Hallazgo: API key de OpenAI → mover a backend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Hallazgo: Reserva legible → vista sin PII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8728" y="3977640"/>
            <a:ext cx="5272888" cy="1965960"/>
          </a:xfrm>
          <a:prstGeom prst="roundRect">
            <a:avLst>
              <a:gd name="adj" fmla="val 4651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6278728" y="3977640"/>
            <a:ext cx="64008" cy="1965960"/>
          </a:xfrm>
          <a:prstGeom prst="roundRect">
            <a:avLst>
              <a:gd name="adj" fmla="val 42857"/>
            </a:avLst>
          </a:prstGeom>
          <a:solidFill>
            <a:srgbClr val="C850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534760" y="40873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55968" y="4123944"/>
            <a:ext cx="426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4. Preguntas del grupo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34760" y="4572000"/>
            <a:ext cx="48156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Abrimos espacio para dudas sobre RLS, las RPCs, el manejo de contraseñas y el plan de remediación.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0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3840480" cy="3840480"/>
          </a:xfrm>
          <a:prstGeom prst="ellipse">
            <a:avLst/>
          </a:prstGeom>
          <a:solidFill>
            <a:srgbClr val="A100FF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38193A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280160" cy="365760"/>
          </a:xfrm>
          <a:prstGeom prst="rect">
            <a:avLst/>
          </a:prstGeom>
          <a:solidFill>
            <a:srgbClr val="F6AF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819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7400" y="411480"/>
            <a:ext cx="9494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B7A6B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CIERRE · PRÓXIMOS PASOS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D6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Plan de remediación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11535" cy="658368"/>
          </a:xfrm>
          <a:prstGeom prst="roundRect">
            <a:avLst>
              <a:gd name="adj" fmla="val 13889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64008" cy="658368"/>
          </a:xfrm>
          <a:prstGeom prst="roundRect">
            <a:avLst>
              <a:gd name="adj" fmla="val 42857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04672" y="178308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1005840" cy="292608"/>
          </a:xfrm>
          <a:prstGeom prst="rect">
            <a:avLst/>
          </a:prstGeom>
          <a:solidFill>
            <a:srgbClr val="F87171">
              <a:alpha val="14000"/>
            </a:srgbClr>
          </a:solidFill>
          <a:ln w="9525">
            <a:solidFill>
              <a:srgbClr val="F87171">
                <a:alpha val="4500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783080"/>
            <a:ext cx="8899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Mover OpenAI a un Edge Function; eliminar la key del cliente.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587752"/>
            <a:ext cx="10911535" cy="658368"/>
          </a:xfrm>
          <a:prstGeom prst="roundRect">
            <a:avLst>
              <a:gd name="adj" fmla="val 13889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640080" y="2587752"/>
            <a:ext cx="64008" cy="658368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04672" y="258775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770632"/>
            <a:ext cx="1005840" cy="292608"/>
          </a:xfrm>
          <a:prstGeom prst="rect">
            <a:avLst/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4500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2587752"/>
            <a:ext cx="8899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Vista agregada sin PII para el mapa; restaurar own_or_admin en Reserva.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392424"/>
            <a:ext cx="10911535" cy="658368"/>
          </a:xfrm>
          <a:prstGeom prst="roundRect">
            <a:avLst>
              <a:gd name="adj" fmla="val 13889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40080" y="3392424"/>
            <a:ext cx="64008" cy="658368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04672" y="339242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🟡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3575304"/>
            <a:ext cx="1005840" cy="292608"/>
          </a:xfrm>
          <a:prstGeom prst="rect">
            <a:avLst/>
          </a:prstGeom>
          <a:solidFill>
            <a:srgbClr val="FBBF24">
              <a:alpha val="14000"/>
            </a:srgbClr>
          </a:solidFill>
          <a:ln w="9525">
            <a:solidFill>
              <a:srgbClr val="FBBF24">
                <a:alpha val="4500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23160" y="3392424"/>
            <a:ext cx="8899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Trigger que impida cambiar id_rol / numero_empleado salvo admin.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197096"/>
            <a:ext cx="10911535" cy="658368"/>
          </a:xfrm>
          <a:prstGeom prst="roundRect">
            <a:avLst>
              <a:gd name="adj" fmla="val 13889"/>
            </a:avLst>
          </a:prstGeom>
          <a:solidFill>
            <a:srgbClr val="281333">
              <a:alpha val="88000"/>
            </a:srgbClr>
          </a:solidFill>
          <a:ln w="12700">
            <a:solidFill>
              <a:srgbClr val="4A35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640080" y="4197096"/>
            <a:ext cx="64008" cy="658368"/>
          </a:xfrm>
          <a:prstGeom prst="roundRect">
            <a:avLst>
              <a:gd name="adj" fmla="val 4285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804672" y="419709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🟢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4379976"/>
            <a:ext cx="1005840" cy="292608"/>
          </a:xfrm>
          <a:prstGeom prst="rect">
            <a:avLst/>
          </a:prstGeom>
          <a:solidFill>
            <a:srgbClr val="4ADE80">
              <a:alpha val="14000"/>
            </a:srgbClr>
          </a:solidFill>
          <a:ln w="9525">
            <a:solidFill>
              <a:srgbClr val="4ADE80">
                <a:alpha val="45000"/>
              </a:srgb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Baja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23160" y="4197096"/>
            <a:ext cx="8899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8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Activar confirmación de correo y evaluar MFA en Supabase Auth.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0" y="507492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DD6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¡Gracias!  ¿Preguntas? 🛡️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1170</Words>
  <Application>Microsoft Office PowerPoint</Application>
  <PresentationFormat>Panorámica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JetBrains Mono</vt:lpstr>
      <vt:lpstr>Nunito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SouthPark · Seguridad de Base de Datos</dc:title>
  <dc:subject>PptxGenJS Presentation</dc:subject>
  <dc:creator>Equipo SouthPark</dc:creator>
  <cp:lastModifiedBy>Diamante 643</cp:lastModifiedBy>
  <cp:revision>1</cp:revision>
  <dcterms:created xsi:type="dcterms:W3CDTF">2026-06-04T21:42:40Z</dcterms:created>
  <dcterms:modified xsi:type="dcterms:W3CDTF">2026-06-04T21:44:04Z</dcterms:modified>
</cp:coreProperties>
</file>